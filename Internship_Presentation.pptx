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3358"/>
          </a:solidFill>
          <a:ln/>
        </p:spPr>
      </p:sp>
      <p:pic>
        <p:nvPicPr>
          <p:cNvPr id="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502920"/>
            <a:ext cx="137160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084832"/>
            <a:ext cx="12191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243230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 Village-Level Geographic Data API Platform</a:t>
            </a:r>
            <a:endParaRPr 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Nifty 100 Financial Intelligence &amp; Business Analytics System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011680" y="4617720"/>
            <a:ext cx="8168335" cy="1691640"/>
          </a:xfrm>
          <a:prstGeom prst="roundRect">
            <a:avLst>
              <a:gd name="adj" fmla="val 5405"/>
            </a:avLst>
          </a:prstGeom>
          <a:solidFill>
            <a:srgbClr val="1F3358"/>
          </a:solidFill>
          <a:ln w="12700">
            <a:solidFill>
              <a:srgbClr val="3345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4818888"/>
            <a:ext cx="3626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377440" y="5038344"/>
            <a:ext cx="362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Singh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377440" y="5477256"/>
            <a:ext cx="3626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77440" y="5696712"/>
            <a:ext cx="362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CS2341839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87288" y="4818888"/>
            <a:ext cx="3626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87288" y="5038344"/>
            <a:ext cx="362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Semester [Enter Semester]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87288" y="5477256"/>
            <a:ext cx="3626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87288" y="5696712"/>
            <a:ext cx="362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Codveda Technologies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100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9339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9933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11096"/>
            <a:ext cx="431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3040" y="2203704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projects, one engineering philosophy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783080"/>
            <a:ext cx="54100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9896" y="199339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79896" y="19933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38848" y="1911096"/>
            <a:ext cx="431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38848" y="2203704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Codveda Technologies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54100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" y="3209544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20954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27248"/>
            <a:ext cx="431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3419856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project was needed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999232"/>
            <a:ext cx="54100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9896" y="3209544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79896" y="320954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38848" y="3127248"/>
            <a:ext cx="431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Technology Stack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38848" y="3419856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boundaries for each build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215384"/>
            <a:ext cx="54100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4088" y="4425696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44256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4343400"/>
            <a:ext cx="431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63040" y="4636008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platform is structured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78728" y="4215384"/>
            <a:ext cx="54100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79896" y="4425696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79896" y="44256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38848" y="4343400"/>
            <a:ext cx="431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238848" y="4636008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 was executed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5431536"/>
            <a:ext cx="54100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4088" y="5641848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" y="56418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63040" y="5559552"/>
            <a:ext cx="431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ML &amp; Outcomes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463040" y="585216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8728" y="5431536"/>
            <a:ext cx="54100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79896" y="5641848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6479896" y="56418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238848" y="5559552"/>
            <a:ext cx="431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7238848" y="585216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from the internship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Internship, Two Production-Grade Projects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were built with the same engineering philosophy: normalize a relational data model, build a robust ETL/import pipeline, expose the data through clean interfaces, and apply caching/indexing for performance.</a:t>
            </a:r>
            <a:endParaRPr lang="en-US" sz="13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gave hands-on exposure to backend engineering, data engineering, business intelligence and applied machine learning within a single internship.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5410048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520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520440"/>
            <a:ext cx="422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3758184"/>
            <a:ext cx="42213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Village-Level Geographic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API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REST API serving India's complete State → District → Sub-District → Village hierarchy.</a:t>
            </a:r>
            <a:endParaRPr lang="en-US" sz="12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address data for B2B drop-downs and autocomplete.</a:t>
            </a:r>
            <a:endParaRPr lang="en-US" sz="12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subscriptions with JWT auth and Redis-backed rate limiting.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728" y="3246120"/>
            <a:ext cx="5410048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3520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9F1C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48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93128" y="3520440"/>
            <a:ext cx="422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93128" y="3758184"/>
            <a:ext cx="42213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Nifty 100 Financial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3048" y="44805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Python + Django platform covering 100 Nifty companies, ~12 years of data.</a:t>
            </a:r>
            <a:endParaRPr lang="en-US" sz="12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warehouse, ML health scoring, and automated pros/cons.</a:t>
            </a:r>
            <a:endParaRPr lang="en-US" sz="12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 and REST API for channel partners.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 — Codveda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Codveda Technologies is a technology-driven organization working at the intersection of data infrastructure and analytics. Its engineering teams build backend platforms and data products used by other businesses and analysts — from geospatial reference data services to financial data and business-intelligence tooling.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3484778" cy="178308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395935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461772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" y="4937760"/>
            <a:ext cx="297271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deployment, managed databases, containerized local dev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3458" y="3703320"/>
            <a:ext cx="3484778" cy="178308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9490" y="395935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460949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9490" y="461772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Data-First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09490" y="4937760"/>
            <a:ext cx="297271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is backed by a validated, normalized data pipeline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03997" y="3703320"/>
            <a:ext cx="3484778" cy="178308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60029" y="395935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460029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60029" y="4617720"/>
            <a:ext cx="2972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Focus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60029" y="4937760"/>
            <a:ext cx="297271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work on real, production-bound features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Platforms Were Needed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10048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 API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861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standardized, reliable source of village-level address data for Indian businesses.</a:t>
            </a:r>
            <a:endParaRPr lang="en-US" sz="13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 local copy requires constant updates, validation and storage overhead.</a:t>
            </a:r>
            <a:endParaRPr lang="en-US" sz="13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Populating drop-downs with hundreds of thousands of villages causes poor UI performance.</a:t>
            </a:r>
            <a:endParaRPr lang="en-US" sz="13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formats differ across regions and sources.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410048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01168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53048" y="2377440"/>
            <a:ext cx="4861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of financial data existed only as raw, inconsistently formatted tables (e.g. 'Mar-24' vs 'Mar 2024' vs 'TTM').</a:t>
            </a:r>
            <a:endParaRPr lang="en-US" sz="13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and analysts need to study fundamentals without writing SQL.</a:t>
            </a:r>
            <a:endParaRPr lang="en-US" sz="13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way to score a company's financial health or detect anomalies.</a:t>
            </a:r>
            <a:endParaRPr lang="en-US" sz="13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 needed programmatic API access, not manual exports.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10048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 API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861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normalize India's full State → District → Sub-District → Village hierarchy.</a:t>
            </a:r>
            <a:endParaRPr lang="en-US" sz="125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standardized REST API for autocomplete/drop-down use cases.</a:t>
            </a:r>
            <a:endParaRPr lang="en-US" sz="125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sub-100ms API response times for 95% of requests.</a:t>
            </a:r>
            <a:endParaRPr lang="en-US" sz="125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tiered subscriptions with API-key auth and per-plan rate limiting.</a:t>
            </a:r>
            <a:endParaRPr lang="en-US" sz="125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admin &amp; B2B dashboards, scaling toward 1M+ daily requests.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410048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01168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53048" y="2377440"/>
            <a:ext cx="4861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 star-schema PostgreSQL warehouse from the raw MariaDB export.</a:t>
            </a:r>
            <a:endParaRPr lang="en-US" sz="125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Python ETL pipelines with derived financial metrics.</a:t>
            </a:r>
            <a:endParaRPr lang="en-US" sz="125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7 production-grade Power BI dashboards.</a:t>
            </a:r>
            <a:endParaRPr lang="en-US" sz="125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ML-based health scoring engine and pros/cons rule engine.</a:t>
            </a:r>
            <a:endParaRPr lang="en-US" sz="125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data via a Django website and REST API for channel partners.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 API PLATFORM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457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complete data pipeline from raw MDDS Excel data to a production API — validation and import, relational schema design, backend API development (Node.js/Express), caching (Redis), authentication, rate limiting, and admin/B2B portal features. Limited to Indian geographical data at the village level; the schema allows future country expansion.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11185855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114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105457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three parallel streams: (a) Power BI analytics dashboards, (b) data engineering, ETL and Python-based analytics/ML scoring, and (c) a Django web application and REST API for channel partners. Limited to the 100 Nifty 100 companies and roughly twelve years of historical data; excludes real-time market data or live trading.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Geographic Data API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4871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2724912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2978" y="182880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4146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4524146" y="24871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4146" y="2724912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(PostgreSQL)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43037" y="182880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44205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8344205" y="24871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44205" y="2724912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3264408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" y="34472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392277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4088" y="416052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22978" y="3264408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4146" y="34472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4524146" y="392277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24146" y="416052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143037" y="3264408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44205" y="34472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8344205" y="392277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44205" y="416052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(Upstash)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4700016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" y="48828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" y="5358384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4088" y="5596128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+ Redis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322978" y="4700016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4146" y="48828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35" name="Text 33"/>
          <p:cNvSpPr/>
          <p:nvPr/>
        </p:nvSpPr>
        <p:spPr>
          <a:xfrm>
            <a:off x="4524146" y="5358384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24146" y="5596128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143037" y="4700016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44205" y="48828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8344205" y="5358384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44205" y="5596128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Nifty 100 Financial Intelligence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4871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2724912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+ Service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978" y="182880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4146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11" name="Text 9"/>
          <p:cNvSpPr/>
          <p:nvPr/>
        </p:nvSpPr>
        <p:spPr>
          <a:xfrm>
            <a:off x="4524146" y="24871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4146" y="2724912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pandas + SQLAlchemy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43037" y="1828800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44205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15" name="Text 13"/>
          <p:cNvSpPr/>
          <p:nvPr/>
        </p:nvSpPr>
        <p:spPr>
          <a:xfrm>
            <a:off x="8344205" y="2487168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44205" y="2724912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264408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" y="34472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392277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4088" y="416052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MySQL/MariaDB (SQL dump)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978" y="3264408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4146" y="34472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23" name="Text 21"/>
          <p:cNvSpPr/>
          <p:nvPr/>
        </p:nvSpPr>
        <p:spPr>
          <a:xfrm>
            <a:off x="4524146" y="392277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ML/Analytics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24146" y="416052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numpy, scipy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43037" y="3264408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44205" y="34472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27" name="Text 25"/>
          <p:cNvSpPr/>
          <p:nvPr/>
        </p:nvSpPr>
        <p:spPr>
          <a:xfrm>
            <a:off x="8344205" y="392277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44205" y="416052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700016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" y="48828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" y="5358384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4088" y="5596128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 + DRF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22978" y="4700016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4146" y="48828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35" name="Text 33"/>
          <p:cNvSpPr/>
          <p:nvPr/>
        </p:nvSpPr>
        <p:spPr>
          <a:xfrm>
            <a:off x="4524146" y="5358384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24146" y="5596128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143037" y="4700016"/>
            <a:ext cx="354573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44205" y="48828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9F1C"/>
          </a:solidFill>
          <a:ln/>
        </p:spPr>
      </p:sp>
      <p:sp>
        <p:nvSpPr>
          <p:cNvPr id="39" name="Text 37"/>
          <p:cNvSpPr/>
          <p:nvPr/>
        </p:nvSpPr>
        <p:spPr>
          <a:xfrm>
            <a:off x="8344205" y="5358384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44205" y="5596128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 (Swagger)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Geographic Data API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34440" y="1783080"/>
            <a:ext cx="9722815" cy="896112"/>
          </a:xfrm>
          <a:prstGeom prst="roundRect">
            <a:avLst>
              <a:gd name="adj" fmla="val 816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874520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221992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B2B Client · Demo Client (React SPAs)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10800000">
            <a:off x="5995264" y="2697480"/>
            <a:ext cx="201168" cy="164592"/>
          </a:xfrm>
          <a:prstGeom prst="triangle">
            <a:avLst/>
          </a:prstGeom>
          <a:solidFill>
            <a:srgbClr val="667085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2907792"/>
            <a:ext cx="9722815" cy="896112"/>
          </a:xfrm>
          <a:prstGeom prst="roundRect">
            <a:avLst>
              <a:gd name="adj" fmla="val 8163"/>
            </a:avLst>
          </a:prstGeom>
          <a:solidFill>
            <a:srgbClr val="2A3F66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999232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3346704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Rate Limiting · JWT Validation · CORS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5995264" y="3822192"/>
            <a:ext cx="201168" cy="164592"/>
          </a:xfrm>
          <a:prstGeom prst="triangle">
            <a:avLst/>
          </a:prstGeom>
          <a:solidFill>
            <a:srgbClr val="667085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4440" y="4032504"/>
            <a:ext cx="9722815" cy="896112"/>
          </a:xfrm>
          <a:prstGeom prst="roundRect">
            <a:avLst>
              <a:gd name="adj" fmla="val 8163"/>
            </a:avLst>
          </a:prstGeom>
          <a:solidFill>
            <a:srgbClr val="3A5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123944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471416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  ·  /api/admin  ·  /api/b2b  ·  /api/auth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10800000">
            <a:off x="5995264" y="4946904"/>
            <a:ext cx="201168" cy="164592"/>
          </a:xfrm>
          <a:prstGeom prst="triangle">
            <a:avLst/>
          </a:prstGeom>
          <a:solidFill>
            <a:srgbClr val="667085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4440" y="5157216"/>
            <a:ext cx="9722815" cy="896112"/>
          </a:xfrm>
          <a:prstGeom prst="roundRect">
            <a:avLst>
              <a:gd name="adj" fmla="val 8163"/>
            </a:avLst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5248656"/>
            <a:ext cx="9174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5596128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(PostgreSQL)  ⇄  Redis Cache (Upstash)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Nifty 100 Financial Intelligence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(MariaDB dump → CSV)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3063240" y="2249424"/>
            <a:ext cx="164592" cy="164592"/>
          </a:xfrm>
          <a:prstGeom prst="triangle">
            <a:avLst/>
          </a:prstGeom>
          <a:solidFill>
            <a:srgbClr val="667085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1874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8745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5715000" y="2249424"/>
            <a:ext cx="164592" cy="164592"/>
          </a:xfrm>
          <a:prstGeom prst="triangle">
            <a:avLst/>
          </a:prstGeom>
          <a:solidFill>
            <a:srgbClr val="667085"/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0" y="1874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8745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(Upsert)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10800000">
            <a:off x="5995264" y="2862072"/>
            <a:ext cx="201168" cy="164592"/>
          </a:xfrm>
          <a:prstGeom prst="triangle">
            <a:avLst/>
          </a:prstGeom>
          <a:solidFill>
            <a:srgbClr val="667085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108960"/>
            <a:ext cx="11185855" cy="822960"/>
          </a:xfrm>
          <a:prstGeom prst="roundRect">
            <a:avLst>
              <a:gd name="adj" fmla="val 8889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00400"/>
            <a:ext cx="106372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Star-Schema Warehouse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547872"/>
            <a:ext cx="106372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dim_company · dim_year · dim_sector  |  fact_profit_loss · fact_balance_sheet · fact_cash_flow · fact_analysis · fact_ml_scores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5995264" y="4005072"/>
            <a:ext cx="201168" cy="164592"/>
          </a:xfrm>
          <a:prstGeom prst="triangle">
            <a:avLst/>
          </a:prstGeom>
          <a:solidFill>
            <a:srgbClr val="667085"/>
          </a:solidFill>
          <a:ln/>
        </p:spPr>
      </p:sp>
      <p:sp>
        <p:nvSpPr>
          <p:cNvPr id="18" name="Shape 16"/>
          <p:cNvSpPr/>
          <p:nvPr/>
        </p:nvSpPr>
        <p:spPr>
          <a:xfrm>
            <a:off x="1752448" y="42519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9F1C"/>
          </a:solidFill>
          <a:ln/>
        </p:spPr>
      </p:sp>
      <p:sp>
        <p:nvSpPr>
          <p:cNvPr id="19" name="Text 17"/>
          <p:cNvSpPr/>
          <p:nvPr/>
        </p:nvSpPr>
        <p:spPr>
          <a:xfrm>
            <a:off x="1752448" y="425196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Dashboards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69968" y="42519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9F1C"/>
          </a:solidFill>
          <a:ln/>
        </p:spPr>
      </p:sp>
      <p:sp>
        <p:nvSpPr>
          <p:cNvPr id="21" name="Text 19"/>
          <p:cNvSpPr/>
          <p:nvPr/>
        </p:nvSpPr>
        <p:spPr>
          <a:xfrm>
            <a:off x="4769968" y="425196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Website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REST API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87488" y="42519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9F1C"/>
          </a:solidFill>
          <a:ln/>
        </p:spPr>
      </p:sp>
      <p:sp>
        <p:nvSpPr>
          <p:cNvPr id="23" name="Text 21"/>
          <p:cNvSpPr/>
          <p:nvPr/>
        </p:nvSpPr>
        <p:spPr>
          <a:xfrm>
            <a:off x="7787488" y="425196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 Was Executed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API — DATA IMPORT (4 PHASES)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590724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1624546" y="1920240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624546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5907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7964" y="2103120"/>
            <a:ext cx="2590724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489590" y="1920240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59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7964" y="2240280"/>
            <a:ext cx="25907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2103120"/>
            <a:ext cx="2590724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54634" y="1920240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7354634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3008" y="2240280"/>
            <a:ext cx="25907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98051" y="2103120"/>
            <a:ext cx="2590724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19677" y="1920240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10219677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98051" y="2240280"/>
            <a:ext cx="25907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3429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— DEVELOPMENT 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94760"/>
            <a:ext cx="1673809" cy="1051560"/>
          </a:xfrm>
          <a:prstGeom prst="roundRect">
            <a:avLst>
              <a:gd name="adj" fmla="val 6957"/>
            </a:avLst>
          </a:prstGeom>
          <a:solidFill>
            <a:srgbClr val="3A5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4377" y="3630168"/>
            <a:ext cx="310896" cy="31089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5" name="Text 23"/>
          <p:cNvSpPr/>
          <p:nvPr/>
        </p:nvSpPr>
        <p:spPr>
          <a:xfrm>
            <a:off x="1184377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959352"/>
            <a:ext cx="158236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05329" y="3794760"/>
            <a:ext cx="1673809" cy="1051560"/>
          </a:xfrm>
          <a:prstGeom prst="roundRect">
            <a:avLst>
              <a:gd name="adj" fmla="val 6957"/>
            </a:avLst>
          </a:prstGeom>
          <a:solidFill>
            <a:srgbClr val="3A5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3086786" y="3630168"/>
            <a:ext cx="310896" cy="31089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9" name="Text 27"/>
          <p:cNvSpPr/>
          <p:nvPr/>
        </p:nvSpPr>
        <p:spPr>
          <a:xfrm>
            <a:off x="3086786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51049" y="3959352"/>
            <a:ext cx="158236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ETL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07738" y="3794760"/>
            <a:ext cx="1673809" cy="1051560"/>
          </a:xfrm>
          <a:prstGeom prst="roundRect">
            <a:avLst>
              <a:gd name="adj" fmla="val 6957"/>
            </a:avLst>
          </a:prstGeom>
          <a:solidFill>
            <a:srgbClr val="3A5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4989195" y="3630168"/>
            <a:ext cx="310896" cy="31089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3" name="Text 31"/>
          <p:cNvSpPr/>
          <p:nvPr/>
        </p:nvSpPr>
        <p:spPr>
          <a:xfrm>
            <a:off x="4989195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53458" y="3959352"/>
            <a:ext cx="158236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0148" y="3794760"/>
            <a:ext cx="1673809" cy="1051560"/>
          </a:xfrm>
          <a:prstGeom prst="roundRect">
            <a:avLst>
              <a:gd name="adj" fmla="val 6957"/>
            </a:avLst>
          </a:prstGeom>
          <a:solidFill>
            <a:srgbClr val="3A5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6891604" y="3630168"/>
            <a:ext cx="310896" cy="31089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7" name="Text 35"/>
          <p:cNvSpPr/>
          <p:nvPr/>
        </p:nvSpPr>
        <p:spPr>
          <a:xfrm>
            <a:off x="6891604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5868" y="3959352"/>
            <a:ext cx="158236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 BI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12557" y="3794760"/>
            <a:ext cx="1673809" cy="1051560"/>
          </a:xfrm>
          <a:prstGeom prst="roundRect">
            <a:avLst>
              <a:gd name="adj" fmla="val 6957"/>
            </a:avLst>
          </a:prstGeom>
          <a:solidFill>
            <a:srgbClr val="3A5488"/>
          </a:solidFill>
          <a:ln/>
        </p:spPr>
      </p:sp>
      <p:sp>
        <p:nvSpPr>
          <p:cNvPr id="40" name="Shape 38"/>
          <p:cNvSpPr/>
          <p:nvPr/>
        </p:nvSpPr>
        <p:spPr>
          <a:xfrm>
            <a:off x="8794013" y="3630168"/>
            <a:ext cx="310896" cy="31089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41" name="Text 39"/>
          <p:cNvSpPr/>
          <p:nvPr/>
        </p:nvSpPr>
        <p:spPr>
          <a:xfrm>
            <a:off x="8794013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58277" y="3959352"/>
            <a:ext cx="158236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REST API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014966" y="3794760"/>
            <a:ext cx="1673809" cy="1051560"/>
          </a:xfrm>
          <a:prstGeom prst="roundRect">
            <a:avLst>
              <a:gd name="adj" fmla="val 6957"/>
            </a:avLst>
          </a:prstGeom>
          <a:solidFill>
            <a:srgbClr val="3A548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96423" y="3630168"/>
            <a:ext cx="310896" cy="31089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45" name="Text 43"/>
          <p:cNvSpPr/>
          <p:nvPr/>
        </p:nvSpPr>
        <p:spPr>
          <a:xfrm>
            <a:off x="10696423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060686" y="3959352"/>
            <a:ext cx="158236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5257800"/>
            <a:ext cx="1118585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" y="5394960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pipelines were built idempotently — each stage (extract/clean/load or validate/import/verify) can be re-run safely without duplicating data, and failures are logged rather than halting the pipeline.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Power BI Dashboards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2501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1168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542032"/>
            <a:ext cx="22958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Market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2889504"/>
            <a:ext cx="229583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snapshot across all 100 companies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56534" y="1828800"/>
            <a:ext cx="262501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9414" y="201168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3539414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1126" y="2542032"/>
            <a:ext cx="22958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Deep Dive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1126" y="2889504"/>
            <a:ext cx="229583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Financials, balance sheet, cash flow &amp; growth for one company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0148" y="1828800"/>
            <a:ext cx="262501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3028" y="201168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393028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4740" y="2542032"/>
            <a:ext cx="22958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Comparison Analyzer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74740" y="2889504"/>
            <a:ext cx="229583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sectors and companies within a sector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63761" y="1828800"/>
            <a:ext cx="262501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6641" y="201168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9246641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28353" y="2542032"/>
            <a:ext cx="22958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Scorecard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28353" y="2889504"/>
            <a:ext cx="229583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health scores, leaderboard &amp; breakdown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474720"/>
            <a:ext cx="262501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365760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" y="4187952"/>
            <a:ext cx="22958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Valuation Analytics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" y="4535424"/>
            <a:ext cx="229583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Revenue/profit growth and margin evolution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56534" y="3474720"/>
            <a:ext cx="262501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39414" y="365760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/>
          <p:nvPr/>
        </p:nvSpPr>
        <p:spPr>
          <a:xfrm>
            <a:off x="3539414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1126" y="4187952"/>
            <a:ext cx="22958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&amp; Leverage Monitor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1126" y="4535424"/>
            <a:ext cx="229583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tracking and interest coverage risk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0148" y="3474720"/>
            <a:ext cx="262501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93028" y="365760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74740" y="4187952"/>
            <a:ext cx="229583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&amp; Shareholder Returns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74740" y="4535424"/>
            <a:ext cx="229583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history and shareholder value creation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Health Scoring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DIMENSIONS &amp; WEIGHTS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4573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585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2265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2978" y="2148840"/>
            <a:ext cx="354573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5858" y="22585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65978" y="2148840"/>
            <a:ext cx="2265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3037" y="2148840"/>
            <a:ext cx="354573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22585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286037" y="2148840"/>
            <a:ext cx="2265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/ Debt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354573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218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3108960"/>
            <a:ext cx="2265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Quality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2978" y="3108960"/>
            <a:ext cx="354573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05858" y="3218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65978" y="3108960"/>
            <a:ext cx="2265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Track Record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43037" y="3108960"/>
            <a:ext cx="354573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5917" y="3218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86037" y="3108960"/>
            <a:ext cx="2265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605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LABELS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526280"/>
            <a:ext cx="2090867" cy="868680"/>
          </a:xfrm>
          <a:prstGeom prst="roundRect">
            <a:avLst>
              <a:gd name="adj" fmla="val 8421"/>
            </a:avLst>
          </a:prstGeom>
          <a:solidFill>
            <a:srgbClr val="2ECC7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654296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983480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85–100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76667" y="4526280"/>
            <a:ext cx="2090867" cy="868680"/>
          </a:xfrm>
          <a:prstGeom prst="roundRect">
            <a:avLst>
              <a:gd name="adj" fmla="val 8421"/>
            </a:avLst>
          </a:prstGeom>
          <a:solidFill>
            <a:srgbClr val="82E0AA"/>
          </a:solidFill>
          <a:ln/>
        </p:spPr>
      </p:sp>
      <p:sp>
        <p:nvSpPr>
          <p:cNvPr id="29" name="Text 27"/>
          <p:cNvSpPr/>
          <p:nvPr/>
        </p:nvSpPr>
        <p:spPr>
          <a:xfrm>
            <a:off x="2776667" y="4654296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76667" y="4983480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50414" y="4526280"/>
            <a:ext cx="2090867" cy="868680"/>
          </a:xfrm>
          <a:prstGeom prst="roundRect">
            <a:avLst>
              <a:gd name="adj" fmla="val 8421"/>
            </a:avLst>
          </a:prstGeom>
          <a:solidFill>
            <a:srgbClr val="F7DC6F"/>
          </a:solidFill>
          <a:ln/>
        </p:spPr>
      </p:sp>
      <p:sp>
        <p:nvSpPr>
          <p:cNvPr id="32" name="Text 30"/>
          <p:cNvSpPr/>
          <p:nvPr/>
        </p:nvSpPr>
        <p:spPr>
          <a:xfrm>
            <a:off x="5050414" y="4654296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50414" y="4983480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50–69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24161" y="4526280"/>
            <a:ext cx="2090867" cy="868680"/>
          </a:xfrm>
          <a:prstGeom prst="roundRect">
            <a:avLst>
              <a:gd name="adj" fmla="val 8421"/>
            </a:avLst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7324161" y="4654296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324161" y="4983480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597908" y="4526280"/>
            <a:ext cx="2090867" cy="868680"/>
          </a:xfrm>
          <a:prstGeom prst="roundRect">
            <a:avLst>
              <a:gd name="adj" fmla="val 8421"/>
            </a:avLst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9597908" y="4654296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597908" y="4983480"/>
            <a:ext cx="20908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5532120"/>
            <a:ext cx="11185855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" y="5532120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were cross-validated by manually checking well-known companies (TCS, HDFCBANK, WIPRO) and stress-tested with a sensitivity analysis on dimension weights.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10048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 API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861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normalized database covering all Indian states, districts, sub-districts and villages.</a:t>
            </a:r>
            <a:endParaRPr lang="en-US" sz="12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REST API with sub-100ms responses for 95% of requests.</a:t>
            </a:r>
            <a:endParaRPr lang="en-US" sz="12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subscriptions with JWT auth, API-key validation and rate limiting.</a:t>
            </a:r>
            <a:endParaRPr lang="en-US" sz="12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B2B dashboards for user management and usage analytics.</a:t>
            </a:r>
            <a:endParaRPr lang="en-US" sz="12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capable of scaling to 1M+ daily API requests.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410048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01168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53048" y="2377440"/>
            <a:ext cx="48614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query-ready star-schema warehouse covering 100 companies, ~12 years of history.</a:t>
            </a:r>
            <a:endParaRPr lang="en-US" sz="12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production-grade Power BI dashboards usable without writing SQL.</a:t>
            </a:r>
            <a:endParaRPr lang="en-US" sz="12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health scoring engine with EXCELLENT–POOR labels.</a:t>
            </a:r>
            <a:endParaRPr lang="en-US" sz="12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pros-and-cons rule engine for every company.</a:t>
            </a:r>
            <a:endParaRPr lang="en-US" sz="12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public website and documented REST API, refreshed via Celery.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02996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60604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2880360"/>
            <a:ext cx="31434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REST APIs, authentication, and rate-limited, cache-backed services at scale.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2978" y="18288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4146" y="2029968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4146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4146" y="260604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4146" y="2880360"/>
            <a:ext cx="31434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idempotent ETL pipelines that clean, standardize and load large real-world datasets.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43037" y="18288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4205" y="202996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8344205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44205" y="260604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44205" y="2880360"/>
            <a:ext cx="31434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 star-schema warehouse into decision-ready Power BI dashboards and DAX measures.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3858768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" y="443484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4088" y="4709160"/>
            <a:ext cx="31434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and validating a multi-dimensional scoring model against domain expectations.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22978" y="36576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4146" y="385876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4524146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4146" y="443484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24146" y="4709160"/>
            <a:ext cx="31434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normalized schemas that balance query performance with future extensibility.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43037" y="3657600"/>
            <a:ext cx="354573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4205" y="3858768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2" name="Text 30"/>
          <p:cNvSpPr/>
          <p:nvPr/>
        </p:nvSpPr>
        <p:spPr>
          <a:xfrm>
            <a:off x="8344205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44205" y="4434840"/>
            <a:ext cx="31434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Discipline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44205" y="4709160"/>
            <a:ext cx="314340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monitoring and idempotency practices used in real production systems.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3429000"/>
            <a:ext cx="85340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reinforced the same lesson: a well-designed data foundation — normalized, validated and cached — is what makes an API, a dashboard, and a machine-learning model trustworthy.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47208" y="4434840"/>
            <a:ext cx="109728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6634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Singh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CS2341839  |  B.Tech CSE  |  IILM University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52578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Organization: Codveda Technologies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2026-08-30T14:54:56Z</dcterms:created>
  <dcterms:modified xsi:type="dcterms:W3CDTF">2026-08-30T14:54:56Z</dcterms:modified>
</cp:coreProperties>
</file>